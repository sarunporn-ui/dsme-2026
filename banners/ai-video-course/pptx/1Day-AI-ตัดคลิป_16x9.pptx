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3716000" cy="77152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Relationship Id="rId12" Type="http://schemas.openxmlformats.org/officeDocument/2006/relationships/image" Target="../media/image1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Relationship Id="rId6" Type="http://schemas.openxmlformats.org/officeDocument/2006/relationships/image" Target="../media/image15.png"/><Relationship Id="rId7" Type="http://schemas.openxmlformats.org/officeDocument/2006/relationships/image" Target="../media/image16.png"/><Relationship Id="rId8" Type="http://schemas.openxmlformats.org/officeDocument/2006/relationships/image" Target="../media/image17.png"/><Relationship Id="rId9" Type="http://schemas.openxmlformats.org/officeDocument/2006/relationships/image" Target="../media/image18.png"/><Relationship Id="rId10" Type="http://schemas.openxmlformats.org/officeDocument/2006/relationships/image" Target="../media/image19.png"/><Relationship Id="rId11" Type="http://schemas.openxmlformats.org/officeDocument/2006/relationships/image" Target="../media/image20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1.png"/><Relationship Id="rId4" Type="http://schemas.openxmlformats.org/officeDocument/2006/relationships/image" Target="../media/image22.png"/><Relationship Id="rId5" Type="http://schemas.openxmlformats.org/officeDocument/2006/relationships/image" Target="../media/image23.png"/><Relationship Id="rId6" Type="http://schemas.openxmlformats.org/officeDocument/2006/relationships/image" Target="../media/image24.png"/><Relationship Id="rId7" Type="http://schemas.openxmlformats.org/officeDocument/2006/relationships/image" Target="../media/image25.png"/><Relationship Id="rId8" Type="http://schemas.openxmlformats.org/officeDocument/2006/relationships/image" Target="../media/image26.png"/><Relationship Id="rId9" Type="http://schemas.openxmlformats.org/officeDocument/2006/relationships/image" Target="../media/image2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 name="A · Classic"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3716000" cy="771525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6050" y="285750"/>
            <a:ext cx="7219950" cy="6200775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" y="247650"/>
            <a:ext cx="628650" cy="59055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766762"/>
            <a:ext cx="2343150" cy="2409825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67362" y="747712"/>
            <a:ext cx="2443162" cy="2409825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9600" y="3076575"/>
            <a:ext cx="3848100" cy="590550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09600" y="4057650"/>
            <a:ext cx="3257550" cy="1133475"/>
          </a:xfrm>
          <a:prstGeom prst="rect">
            <a:avLst/>
          </a:prstGeom>
        </p:spPr>
      </p:pic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019550" y="4057650"/>
            <a:ext cx="3257550" cy="1133475"/>
          </a:xfrm>
          <a:prstGeom prst="rect">
            <a:avLst/>
          </a:prstGeom>
        </p:spPr>
      </p:pic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09600" y="5353050"/>
            <a:ext cx="6667500" cy="1247775"/>
          </a:xfrm>
          <a:prstGeom prst="rect">
            <a:avLst/>
          </a:prstGeom>
        </p:spPr>
      </p:pic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71475" y="6586537"/>
            <a:ext cx="3409950" cy="1128712"/>
          </a:xfrm>
          <a:prstGeom prst="rect">
            <a:avLst/>
          </a:prstGeom>
        </p:spPr>
      </p:pic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1944350" y="5948362"/>
            <a:ext cx="1181100" cy="135731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809750" y="752475"/>
            <a:ext cx="2566838" cy="1448409"/>
          </a:xfrm>
          <a:prstGeom prst="rect">
            <a:avLst/>
          </a:prstGeom>
          <a:noFill/>
        </p:spPr>
        <p:txBody>
          <a:bodyPr wrap="none" anchor="t" lIns="57150" rIns="5715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7200" b="0" spc="-144">
                <a:solidFill>
                  <a:srgbClr val="FF7A3D"/>
                </a:solidFill>
                <a:latin typeface="LINE Seed Sans TH Heavy"/>
                <a:ea typeface="LINE Seed Sans TH Heavy"/>
                <a:cs typeface="LINE Seed Sans TH Heavy"/>
              </a:rPr>
              <a:t>1 Day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09750" y="1739949"/>
            <a:ext cx="4298602" cy="1448409"/>
          </a:xfrm>
          <a:prstGeom prst="rect">
            <a:avLst/>
          </a:prstGeom>
          <a:noFill/>
        </p:spPr>
        <p:txBody>
          <a:bodyPr wrap="none" anchor="t" lIns="57150" rIns="5715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7200" b="0" spc="-144">
                <a:solidFill>
                  <a:srgbClr val="E6EEFF"/>
                </a:solidFill>
                <a:latin typeface="LINE Seed Sans TH Heavy"/>
                <a:ea typeface="LINE Seed Sans TH Heavy"/>
                <a:cs typeface="LINE Seed Sans TH Heavy"/>
              </a:rPr>
              <a:t>AI ตัดคลิป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6740" y="3105745"/>
            <a:ext cx="3412926" cy="512978"/>
          </a:xfrm>
          <a:prstGeom prst="rect">
            <a:avLst/>
          </a:prstGeom>
          <a:noFill/>
        </p:spPr>
        <p:txBody>
          <a:bodyPr wrap="none" anchor="t" lIns="57150" rIns="5715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2550" b="1">
                <a:solidFill>
                  <a:srgbClr val="E6EEFF"/>
                </a:solidFill>
                <a:latin typeface="LINE Seed Sans TH"/>
                <a:ea typeface="LINE Seed Sans TH"/>
                <a:cs typeface="LINE Seed Sans TH"/>
              </a:rPr>
              <a:t>ทำคลิป ตัดต่อ </a:t>
            </a:r>
            <a:r>
              <a:rPr sz="2550" b="1">
                <a:solidFill>
                  <a:srgbClr val="FF7A3D"/>
                </a:solidFill>
                <a:latin typeface="LINE Seed Sans TH"/>
                <a:ea typeface="LINE Seed Sans TH"/>
                <a:cs typeface="LINE Seed Sans TH"/>
              </a:rPr>
              <a:t>พร้อมขาย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1467" y="4231927"/>
            <a:ext cx="678209" cy="266748"/>
          </a:xfrm>
          <a:prstGeom prst="rect">
            <a:avLst/>
          </a:prstGeom>
          <a:noFill/>
        </p:spPr>
        <p:txBody>
          <a:bodyPr wrap="none" anchor="t" lIns="57150" rIns="5715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326" b="0" spc="53">
                <a:solidFill>
                  <a:srgbClr val="B6C2D9"/>
                </a:solidFill>
                <a:latin typeface="LINE Seed Sans TH"/>
                <a:ea typeface="LINE Seed Sans TH"/>
                <a:cs typeface="LINE Seed Sans TH"/>
              </a:rPr>
              <a:t>วันเรียน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1467" y="4498627"/>
            <a:ext cx="2546746" cy="512978"/>
          </a:xfrm>
          <a:prstGeom prst="rect">
            <a:avLst/>
          </a:prstGeom>
          <a:noFill/>
        </p:spPr>
        <p:txBody>
          <a:bodyPr wrap="none" anchor="t" lIns="57150" rIns="5715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2550" b="1">
                <a:solidFill>
                  <a:srgbClr val="E6EEFF"/>
                </a:solidFill>
                <a:latin typeface="LINE Seed Sans TH"/>
                <a:ea typeface="LINE Seed Sans TH"/>
                <a:cs typeface="LINE Seed Sans TH"/>
              </a:rPr>
              <a:t>เสาร์ 7 พ.ย. 2026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01417" y="4231927"/>
            <a:ext cx="709314" cy="266748"/>
          </a:xfrm>
          <a:prstGeom prst="rect">
            <a:avLst/>
          </a:prstGeom>
          <a:noFill/>
        </p:spPr>
        <p:txBody>
          <a:bodyPr wrap="none" anchor="t" lIns="57150" rIns="5715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326" b="0" spc="53">
                <a:solidFill>
                  <a:srgbClr val="B6C2D9"/>
                </a:solidFill>
                <a:latin typeface="LINE Seed Sans TH"/>
                <a:ea typeface="LINE Seed Sans TH"/>
                <a:cs typeface="LINE Seed Sans TH"/>
              </a:rPr>
              <a:t>รับจำกัด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01417" y="4498627"/>
            <a:ext cx="2020044" cy="512978"/>
          </a:xfrm>
          <a:prstGeom prst="rect">
            <a:avLst/>
          </a:prstGeom>
          <a:noFill/>
        </p:spPr>
        <p:txBody>
          <a:bodyPr wrap="none" anchor="t" lIns="57150" rIns="5715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2550" b="1">
                <a:solidFill>
                  <a:srgbClr val="FF7A3D"/>
                </a:solidFill>
                <a:latin typeface="LINE Seed Sans TH"/>
                <a:ea typeface="LINE Seed Sans TH"/>
                <a:cs typeface="LINE Seed Sans TH"/>
              </a:rPr>
              <a:t>10</a:t>
            </a:r>
            <a:r>
              <a:rPr sz="2550" b="1">
                <a:solidFill>
                  <a:srgbClr val="E6EEFF"/>
                </a:solidFill>
                <a:latin typeface="LINE Seed Sans TH"/>
                <a:ea typeface="LINE Seed Sans TH"/>
                <a:cs typeface="LINE Seed Sans TH"/>
              </a:rPr>
              <a:t> ที่นั่งเท่านั้น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1467" y="5520630"/>
            <a:ext cx="1030039" cy="243664"/>
          </a:xfrm>
          <a:prstGeom prst="rect">
            <a:avLst/>
          </a:prstGeom>
          <a:noFill/>
        </p:spPr>
        <p:txBody>
          <a:bodyPr wrap="none" anchor="t" lIns="57150" rIns="5715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211" b="1" spc="48">
                <a:solidFill>
                  <a:srgbClr val="C7D2FE"/>
                </a:solidFill>
                <a:latin typeface="LINE Seed Sans TH"/>
                <a:ea typeface="LINE Seed Sans TH"/>
                <a:cs typeface="LINE Seed Sans TH"/>
              </a:rPr>
              <a:t>ราคารอบแรก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1467" y="5558730"/>
            <a:ext cx="2894260" cy="1077254"/>
          </a:xfrm>
          <a:prstGeom prst="rect">
            <a:avLst/>
          </a:prstGeom>
          <a:noFill/>
        </p:spPr>
        <p:txBody>
          <a:bodyPr wrap="none" anchor="t" lIns="57150" rIns="5715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5355" b="0">
                <a:solidFill>
                  <a:srgbClr val="FF7A3D"/>
                </a:solidFill>
                <a:effectLst>
                  <a:outerShdw blurRad="76200" dist="38100" dir="5400000" algn="t" rotWithShape="0">
                    <a:srgbClr val="000000">
                      <a:alpha val="45000"/>
                    </a:srgbClr>
                  </a:outerShdw>
                </a:effectLst>
                <a:latin typeface="LINE Seed Sans TH Heavy"/>
                <a:ea typeface="LINE Seed Sans TH Heavy"/>
                <a:cs typeface="LINE Seed Sans TH Heavy"/>
              </a:rPr>
              <a:t>6,990</a:t>
            </a:r>
            <a:r>
              <a:rPr sz="1607" b="1">
                <a:solidFill>
                  <a:srgbClr val="FF7A3D"/>
                </a:solidFill>
                <a:effectLst>
                  <a:outerShdw blurRad="76200" dist="38100" dir="5400000" algn="t" rotWithShape="0">
                    <a:srgbClr val="000000">
                      <a:alpha val="45000"/>
                    </a:srgbClr>
                  </a:outerShdw>
                </a:effectLst>
                <a:latin typeface="LINE Seed Sans TH"/>
                <a:ea typeface="LINE Seed Sans TH"/>
                <a:cs typeface="LINE Seed Sans TH"/>
              </a:rPr>
              <a:t>บาท/ท่าน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81871" y="5574506"/>
            <a:ext cx="1457176" cy="390504"/>
          </a:xfrm>
          <a:prstGeom prst="rect">
            <a:avLst/>
          </a:prstGeom>
          <a:noFill/>
        </p:spPr>
        <p:txBody>
          <a:bodyPr wrap="none" anchor="t" lIns="57150" rIns="5715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339" b="0">
                <a:solidFill>
                  <a:srgbClr val="B6C2D9"/>
                </a:solidFill>
                <a:latin typeface="LINE Seed Sans TH"/>
                <a:ea typeface="LINE Seed Sans TH"/>
                <a:cs typeface="LINE Seed Sans TH"/>
              </a:rPr>
              <a:t>ราคาเต็ม </a:t>
            </a:r>
            <a:r>
              <a:rPr sz="1941" b="1" strike="sngStrike">
                <a:solidFill>
                  <a:srgbClr val="B6C2D9"/>
                </a:solidFill>
                <a:latin typeface="LINE Seed Sans TH"/>
                <a:ea typeface="LINE Seed Sans TH"/>
                <a:cs typeface="LINE Seed Sans TH"/>
              </a:rPr>
              <a:t>8,500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13882" y="6053435"/>
            <a:ext cx="1197917" cy="255847"/>
          </a:xfrm>
          <a:prstGeom prst="rect">
            <a:avLst/>
          </a:prstGeom>
          <a:noFill/>
        </p:spPr>
        <p:txBody>
          <a:bodyPr wrap="none" anchor="t" lIns="57150" rIns="5715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272" b="1">
                <a:solidFill>
                  <a:srgbClr val="FFB088"/>
                </a:solidFill>
                <a:latin typeface="LINE Seed Sans TH"/>
                <a:ea typeface="LINE Seed Sans TH"/>
                <a:cs typeface="LINE Seed Sans TH"/>
              </a:rPr>
              <a:t>ประหยัด 1,510.-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710" y="6903690"/>
            <a:ext cx="1849784" cy="422452"/>
          </a:xfrm>
          <a:prstGeom prst="rect">
            <a:avLst/>
          </a:prstGeom>
          <a:noFill/>
        </p:spPr>
        <p:txBody>
          <a:bodyPr wrap="none" anchor="t" lIns="57150" rIns="5715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LINE Seed Sans TH"/>
                <a:ea typeface="LINE Seed Sans TH"/>
                <a:cs typeface="LINE Seed Sans TH"/>
              </a:rPr>
              <a:t>สนใจ คอมเมนต์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 name="B · Spotlight"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3716000" cy="771525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52875" y="2495550"/>
            <a:ext cx="6143625" cy="5143500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" y="285750"/>
            <a:ext cx="628650" cy="59055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57525" y="323850"/>
            <a:ext cx="2400300" cy="2362200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53412" y="309562"/>
            <a:ext cx="2405062" cy="2371725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133975" y="2514600"/>
            <a:ext cx="3409950" cy="523875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09600" y="3143250"/>
            <a:ext cx="3143250" cy="1181100"/>
          </a:xfrm>
          <a:prstGeom prst="rect">
            <a:avLst/>
          </a:prstGeom>
        </p:spPr>
      </p:pic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733925" y="5638800"/>
            <a:ext cx="4248150" cy="2062162"/>
          </a:xfrm>
          <a:prstGeom prst="rect">
            <a:avLst/>
          </a:prstGeom>
        </p:spPr>
      </p:pic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76275" y="6329362"/>
            <a:ext cx="1085850" cy="1114425"/>
          </a:xfrm>
          <a:prstGeom prst="rect">
            <a:avLst/>
          </a:prstGeom>
        </p:spPr>
      </p:pic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563100" y="3143250"/>
            <a:ext cx="3543300" cy="2219325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702200" y="419100"/>
            <a:ext cx="2311300" cy="1297533"/>
          </a:xfrm>
          <a:prstGeom prst="rect">
            <a:avLst/>
          </a:prstGeom>
          <a:noFill/>
        </p:spPr>
        <p:txBody>
          <a:bodyPr wrap="none" anchor="t" lIns="57150" rIns="5715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6450" b="0" spc="-129">
                <a:solidFill>
                  <a:srgbClr val="FF7A3D"/>
                </a:solidFill>
                <a:latin typeface="LINE Seed Sans TH Heavy"/>
                <a:ea typeface="LINE Seed Sans TH Heavy"/>
                <a:cs typeface="LINE Seed Sans TH Heavy"/>
              </a:rPr>
              <a:t>1 Day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26508" y="1303734"/>
            <a:ext cx="3862833" cy="1297533"/>
          </a:xfrm>
          <a:prstGeom prst="rect">
            <a:avLst/>
          </a:prstGeom>
          <a:noFill/>
        </p:spPr>
        <p:txBody>
          <a:bodyPr wrap="none" anchor="t" lIns="57150" rIns="5715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6450" b="0" spc="-129">
                <a:solidFill>
                  <a:srgbClr val="E6EEFF"/>
                </a:solidFill>
                <a:latin typeface="LINE Seed Sans TH Heavy"/>
                <a:ea typeface="LINE Seed Sans TH Heavy"/>
                <a:cs typeface="LINE Seed Sans TH Heavy"/>
              </a:rPr>
              <a:t>AI ตัดคลิป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24177" y="2544514"/>
            <a:ext cx="3024782" cy="452628"/>
          </a:xfrm>
          <a:prstGeom prst="rect">
            <a:avLst/>
          </a:prstGeom>
          <a:noFill/>
        </p:spPr>
        <p:txBody>
          <a:bodyPr wrap="none" anchor="t" lIns="57150" rIns="5715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E6EEFF"/>
                </a:solidFill>
                <a:latin typeface="LINE Seed Sans TH"/>
                <a:ea typeface="LINE Seed Sans TH"/>
                <a:cs typeface="LINE Seed Sans TH"/>
              </a:rPr>
              <a:t>ทำคลิป ตัดต่อ </a:t>
            </a:r>
            <a:r>
              <a:rPr sz="2250" b="1">
                <a:solidFill>
                  <a:srgbClr val="FF7A3D"/>
                </a:solidFill>
                <a:latin typeface="LINE Seed Sans TH"/>
                <a:ea typeface="LINE Seed Sans TH"/>
                <a:cs typeface="LINE Seed Sans TH"/>
              </a:rPr>
              <a:t>พร้อมขาย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3820" y="3326010"/>
            <a:ext cx="743991" cy="282439"/>
          </a:xfrm>
          <a:prstGeom prst="rect">
            <a:avLst/>
          </a:prstGeom>
          <a:noFill/>
        </p:spPr>
        <p:txBody>
          <a:bodyPr wrap="none" anchor="t" lIns="57150" rIns="5715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404" b="0" spc="56">
                <a:solidFill>
                  <a:srgbClr val="B6C2D9"/>
                </a:solidFill>
                <a:latin typeface="LINE Seed Sans TH"/>
                <a:ea typeface="LINE Seed Sans TH"/>
                <a:cs typeface="LINE Seed Sans TH"/>
              </a:rPr>
              <a:t>รับจำกัด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3820" y="3602235"/>
            <a:ext cx="2132111" cy="543153"/>
          </a:xfrm>
          <a:prstGeom prst="rect">
            <a:avLst/>
          </a:prstGeom>
          <a:noFill/>
        </p:spPr>
        <p:txBody>
          <a:bodyPr wrap="none" anchor="t" lIns="57150" rIns="5715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FF7A3D"/>
                </a:solidFill>
                <a:latin typeface="LINE Seed Sans TH"/>
                <a:ea typeface="LINE Seed Sans TH"/>
                <a:cs typeface="LINE Seed Sans TH"/>
              </a:rPr>
              <a:t>10</a:t>
            </a:r>
            <a:r>
              <a:rPr sz="2700" b="1">
                <a:solidFill>
                  <a:srgbClr val="E6EEFF"/>
                </a:solidFill>
                <a:latin typeface="LINE Seed Sans TH"/>
                <a:ea typeface="LINE Seed Sans TH"/>
                <a:cs typeface="LINE Seed Sans TH"/>
              </a:rPr>
              <a:t> ที่นั่งเท่านั้น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34150" y="5819775"/>
            <a:ext cx="647551" cy="271576"/>
          </a:xfrm>
          <a:prstGeom prst="rect">
            <a:avLst/>
          </a:prstGeom>
          <a:noFill/>
        </p:spPr>
        <p:txBody>
          <a:bodyPr wrap="none" anchor="t" lIns="57150" rIns="5715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1350" b="0">
                <a:solidFill>
                  <a:srgbClr val="B6C2D9"/>
                </a:solidFill>
                <a:latin typeface="LINE Seed Sans TH"/>
                <a:ea typeface="LINE Seed Sans TH"/>
                <a:cs typeface="LINE Seed Sans TH"/>
              </a:rPr>
              <a:t>วันเรียน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27873" y="6038850"/>
            <a:ext cx="3460105" cy="663854"/>
          </a:xfrm>
          <a:prstGeom prst="rect">
            <a:avLst/>
          </a:prstGeom>
          <a:noFill/>
        </p:spPr>
        <p:txBody>
          <a:bodyPr wrap="none" anchor="t" lIns="57150" rIns="5715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3300" b="0">
                <a:solidFill>
                  <a:srgbClr val="E6EEFF"/>
                </a:solidFill>
                <a:latin typeface="LINE Seed Sans TH Heavy"/>
                <a:ea typeface="LINE Seed Sans TH Heavy"/>
                <a:cs typeface="LINE Seed Sans TH Heavy"/>
              </a:rPr>
              <a:t>เสาร์ 7 พ.ย. 2026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15173" y="6878835"/>
            <a:ext cx="1518642" cy="342017"/>
          </a:xfrm>
          <a:prstGeom prst="rect">
            <a:avLst/>
          </a:prstGeom>
          <a:noFill/>
        </p:spPr>
        <p:txBody>
          <a:bodyPr wrap="none" anchor="t" lIns="57150" rIns="5715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1700" b="1">
                <a:solidFill>
                  <a:srgbClr val="FFFFFF"/>
                </a:solidFill>
                <a:latin typeface="LINE Seed Sans TH"/>
                <a:ea typeface="LINE Seed Sans TH"/>
                <a:cs typeface="LINE Seed Sans TH"/>
              </a:rPr>
              <a:t>สนใจ คอมเมนต์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57320" y="3318420"/>
            <a:ext cx="1084064" cy="257997"/>
          </a:xfrm>
          <a:prstGeom prst="rect">
            <a:avLst/>
          </a:prstGeom>
          <a:noFill/>
        </p:spPr>
        <p:txBody>
          <a:bodyPr wrap="none" anchor="t" lIns="57150" rIns="5715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282" b="1" spc="51">
                <a:solidFill>
                  <a:srgbClr val="C7D2FE"/>
                </a:solidFill>
                <a:latin typeface="LINE Seed Sans TH"/>
                <a:ea typeface="LINE Seed Sans TH"/>
                <a:cs typeface="LINE Seed Sans TH"/>
              </a:rPr>
              <a:t>ราคารอบแรก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57320" y="3375570"/>
            <a:ext cx="3057971" cy="1140622"/>
          </a:xfrm>
          <a:prstGeom prst="rect">
            <a:avLst/>
          </a:prstGeom>
          <a:noFill/>
        </p:spPr>
        <p:txBody>
          <a:bodyPr wrap="none" anchor="t" lIns="57150" rIns="5715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5670" b="0">
                <a:solidFill>
                  <a:srgbClr val="FF7A3D"/>
                </a:solidFill>
                <a:effectLst>
                  <a:outerShdw blurRad="76200" dist="38100" dir="5400000" algn="t" rotWithShape="0">
                    <a:srgbClr val="000000">
                      <a:alpha val="45000"/>
                    </a:srgbClr>
                  </a:outerShdw>
                </a:effectLst>
                <a:latin typeface="LINE Seed Sans TH Heavy"/>
                <a:ea typeface="LINE Seed Sans TH Heavy"/>
                <a:cs typeface="LINE Seed Sans TH Heavy"/>
              </a:rPr>
              <a:t>6,990</a:t>
            </a:r>
            <a:r>
              <a:rPr sz="1701" b="1">
                <a:solidFill>
                  <a:srgbClr val="FF7A3D"/>
                </a:solidFill>
                <a:effectLst>
                  <a:outerShdw blurRad="76200" dist="38100" dir="5400000" algn="t" rotWithShape="0">
                    <a:srgbClr val="000000">
                      <a:alpha val="45000"/>
                    </a:srgbClr>
                  </a:outerShdw>
                </a:effectLst>
                <a:latin typeface="LINE Seed Sans TH"/>
                <a:ea typeface="LINE Seed Sans TH"/>
                <a:cs typeface="LINE Seed Sans TH"/>
              </a:rPr>
              <a:t>บาท/ท่าน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57320" y="4381351"/>
            <a:ext cx="1535757" cy="413475"/>
          </a:xfrm>
          <a:prstGeom prst="rect">
            <a:avLst/>
          </a:prstGeom>
          <a:noFill/>
        </p:spPr>
        <p:txBody>
          <a:bodyPr wrap="none" anchor="t" lIns="57150" rIns="5715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418" b="0">
                <a:solidFill>
                  <a:srgbClr val="B6C2D9"/>
                </a:solidFill>
                <a:latin typeface="LINE Seed Sans TH"/>
                <a:ea typeface="LINE Seed Sans TH"/>
                <a:cs typeface="LINE Seed Sans TH"/>
              </a:rPr>
              <a:t>ราคาเต็ม </a:t>
            </a:r>
            <a:r>
              <a:rPr sz="2055" b="1" strike="sngStrike">
                <a:solidFill>
                  <a:srgbClr val="B6C2D9"/>
                </a:solidFill>
                <a:latin typeface="LINE Seed Sans TH"/>
                <a:ea typeface="LINE Seed Sans TH"/>
                <a:cs typeface="LINE Seed Sans TH"/>
              </a:rPr>
              <a:t>8,500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96028" y="4867721"/>
            <a:ext cx="1261764" cy="270897"/>
          </a:xfrm>
          <a:prstGeom prst="rect">
            <a:avLst/>
          </a:prstGeom>
          <a:noFill/>
        </p:spPr>
        <p:txBody>
          <a:bodyPr wrap="none" anchor="t" lIns="57150" rIns="5715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347" b="1">
                <a:solidFill>
                  <a:srgbClr val="FFB088"/>
                </a:solidFill>
                <a:latin typeface="LINE Seed Sans TH"/>
                <a:ea typeface="LINE Seed Sans TH"/>
                <a:cs typeface="LINE Seed Sans TH"/>
              </a:rPr>
              <a:t>ประหยัด 1,510.-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 name="C · Ticket"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3716000" cy="771525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1475" y="571500"/>
            <a:ext cx="6867525" cy="5748337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24750" y="247650"/>
            <a:ext cx="561975" cy="53340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24662" y="561975"/>
            <a:ext cx="2319337" cy="2286000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677650" y="542925"/>
            <a:ext cx="2038350" cy="2286000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524750" y="2638425"/>
            <a:ext cx="3409950" cy="523875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015162" y="3114675"/>
            <a:ext cx="6700837" cy="4095750"/>
          </a:xfrm>
          <a:prstGeom prst="rect">
            <a:avLst/>
          </a:prstGeom>
        </p:spPr>
      </p:pic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286625" y="6586537"/>
            <a:ext cx="3409950" cy="112871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610600" y="676274"/>
            <a:ext cx="2158007" cy="1207008"/>
          </a:xfrm>
          <a:prstGeom prst="rect">
            <a:avLst/>
          </a:prstGeom>
          <a:noFill/>
        </p:spPr>
        <p:txBody>
          <a:bodyPr wrap="none" anchor="t" lIns="57150" rIns="5715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6000" b="0" spc="-120">
                <a:solidFill>
                  <a:srgbClr val="FF7A3D"/>
                </a:solidFill>
                <a:latin typeface="LINE Seed Sans TH Heavy"/>
                <a:ea typeface="LINE Seed Sans TH Heavy"/>
                <a:cs typeface="LINE Seed Sans TH Heavy"/>
              </a:rPr>
              <a:t>1 Day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10600" y="1499145"/>
            <a:ext cx="3601342" cy="1207008"/>
          </a:xfrm>
          <a:prstGeom prst="rect">
            <a:avLst/>
          </a:prstGeom>
          <a:noFill/>
        </p:spPr>
        <p:txBody>
          <a:bodyPr wrap="none" anchor="t" lIns="57150" rIns="5715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6000" b="0" spc="-120">
                <a:solidFill>
                  <a:srgbClr val="E6EEFF"/>
                </a:solidFill>
                <a:latin typeface="LINE Seed Sans TH Heavy"/>
                <a:ea typeface="LINE Seed Sans TH Heavy"/>
                <a:cs typeface="LINE Seed Sans TH Heavy"/>
              </a:rPr>
              <a:t>AI ตัดคลิป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15250" y="2668637"/>
            <a:ext cx="3024782" cy="452628"/>
          </a:xfrm>
          <a:prstGeom prst="rect">
            <a:avLst/>
          </a:prstGeom>
          <a:noFill/>
        </p:spPr>
        <p:txBody>
          <a:bodyPr wrap="none" anchor="t" lIns="57150" rIns="5715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2250" b="1">
                <a:solidFill>
                  <a:srgbClr val="E6EEFF"/>
                </a:solidFill>
                <a:latin typeface="LINE Seed Sans TH"/>
                <a:ea typeface="LINE Seed Sans TH"/>
                <a:cs typeface="LINE Seed Sans TH"/>
              </a:rPr>
              <a:t>ทำคลิป ตัดต่อ </a:t>
            </a:r>
            <a:r>
              <a:rPr sz="2250" b="1">
                <a:solidFill>
                  <a:srgbClr val="FF7A3D"/>
                </a:solidFill>
                <a:latin typeface="LINE Seed Sans TH"/>
                <a:ea typeface="LINE Seed Sans TH"/>
                <a:cs typeface="LINE Seed Sans TH"/>
              </a:rPr>
              <a:t>พร้อมขาย</a:t>
            </a:r>
          </a:p>
        </p:txBody>
      </p:sp>
      <p:sp>
        <p:nvSpPr>
          <p:cNvPr id="13" name="TextBox 12"/>
          <p:cNvSpPr txBox="1"/>
          <p:nvPr/>
        </p:nvSpPr>
        <p:spPr>
          <a:xfrm rot="21420000">
            <a:off x="7775895" y="3820247"/>
            <a:ext cx="3638401" cy="217261"/>
          </a:xfrm>
          <a:prstGeom prst="rect">
            <a:avLst/>
          </a:prstGeom>
          <a:noFill/>
        </p:spPr>
        <p:txBody>
          <a:bodyPr wrap="none" anchor="t" lIns="57150" rIns="5715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080" b="1" spc="302">
                <a:solidFill>
                  <a:srgbClr val="2563FF"/>
                </a:solidFill>
                <a:latin typeface="LINE Seed Sans TH"/>
                <a:ea typeface="LINE Seed Sans TH"/>
                <a:cs typeface="LINE Seed Sans TH"/>
              </a:rPr>
              <a:t>ADMIT ONE · AI VIDEO WORKSHOP</a:t>
            </a:r>
          </a:p>
        </p:txBody>
      </p:sp>
      <p:sp>
        <p:nvSpPr>
          <p:cNvPr id="14" name="TextBox 13"/>
          <p:cNvSpPr txBox="1"/>
          <p:nvPr/>
        </p:nvSpPr>
        <p:spPr>
          <a:xfrm rot="21420000">
            <a:off x="7818199" y="4544764"/>
            <a:ext cx="2117526" cy="422452"/>
          </a:xfrm>
          <a:prstGeom prst="rect">
            <a:avLst/>
          </a:prstGeom>
          <a:noFill/>
        </p:spPr>
        <p:txBody>
          <a:bodyPr wrap="none" anchor="t" lIns="57150" rIns="5715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F172A"/>
                </a:solidFill>
                <a:latin typeface="LINE Seed Sans TH"/>
                <a:ea typeface="LINE Seed Sans TH"/>
                <a:cs typeface="LINE Seed Sans TH"/>
              </a:rPr>
              <a:t>เสาร์ 7 พ.ย. 2026</a:t>
            </a:r>
          </a:p>
        </p:txBody>
      </p:sp>
      <p:sp>
        <p:nvSpPr>
          <p:cNvPr id="15" name="TextBox 14"/>
          <p:cNvSpPr txBox="1"/>
          <p:nvPr/>
        </p:nvSpPr>
        <p:spPr>
          <a:xfrm rot="21420000">
            <a:off x="7801897" y="4347426"/>
            <a:ext cx="576262" cy="235366"/>
          </a:xfrm>
          <a:prstGeom prst="rect">
            <a:avLst/>
          </a:prstGeom>
          <a:noFill/>
        </p:spPr>
        <p:txBody>
          <a:bodyPr wrap="none" anchor="t" lIns="57150" rIns="5715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170" b="0">
                <a:solidFill>
                  <a:srgbClr val="475569"/>
                </a:solidFill>
                <a:latin typeface="LINE Seed Sans TH"/>
                <a:ea typeface="LINE Seed Sans TH"/>
                <a:cs typeface="LINE Seed Sans TH"/>
              </a:rPr>
              <a:t>วันเรียน</a:t>
            </a:r>
          </a:p>
        </p:txBody>
      </p:sp>
      <p:sp>
        <p:nvSpPr>
          <p:cNvPr id="16" name="TextBox 15"/>
          <p:cNvSpPr txBox="1"/>
          <p:nvPr/>
        </p:nvSpPr>
        <p:spPr>
          <a:xfrm rot="21420000">
            <a:off x="11619507" y="4053656"/>
            <a:ext cx="1256555" cy="867537"/>
          </a:xfrm>
          <a:prstGeom prst="rect">
            <a:avLst/>
          </a:prstGeom>
          <a:noFill/>
        </p:spPr>
        <p:txBody>
          <a:bodyPr wrap="none" anchor="t" lIns="57150" rIns="57150" tIns="0" bIns="0">
            <a:noAutofit/>
          </a:bodyPr>
          <a:lstStyle/>
          <a:p>
            <a:pPr algn="r">
              <a:lnSpc>
                <a:spcPct val="100000"/>
              </a:lnSpc>
            </a:pPr>
            <a:r>
              <a:rPr sz="4312" b="0">
                <a:solidFill>
                  <a:srgbClr val="2563FF"/>
                </a:solidFill>
                <a:latin typeface="LINE Seed Sans TH Heavy"/>
                <a:ea typeface="LINE Seed Sans TH Heavy"/>
                <a:cs typeface="LINE Seed Sans TH Heavy"/>
              </a:rPr>
              <a:t>10</a:t>
            </a:r>
            <a:r>
              <a:rPr sz="1875" b="1">
                <a:solidFill>
                  <a:srgbClr val="0F172A"/>
                </a:solidFill>
                <a:latin typeface="LINE Seed Sans TH"/>
                <a:ea typeface="LINE Seed Sans TH"/>
                <a:cs typeface="LINE Seed Sans TH"/>
              </a:rPr>
              <a:t>ที่นั่ง</a:t>
            </a:r>
          </a:p>
        </p:txBody>
      </p:sp>
      <p:sp>
        <p:nvSpPr>
          <p:cNvPr id="17" name="TextBox 16"/>
          <p:cNvSpPr txBox="1"/>
          <p:nvPr/>
        </p:nvSpPr>
        <p:spPr>
          <a:xfrm rot="21420000">
            <a:off x="12245489" y="3961064"/>
            <a:ext cx="609600" cy="235366"/>
          </a:xfrm>
          <a:prstGeom prst="rect">
            <a:avLst/>
          </a:prstGeom>
          <a:noFill/>
        </p:spPr>
        <p:txBody>
          <a:bodyPr wrap="none" anchor="t" lIns="57150" rIns="57150" tIns="0" bIns="0">
            <a:noAutofit/>
          </a:bodyPr>
          <a:lstStyle/>
          <a:p>
            <a:pPr algn="r">
              <a:lnSpc>
                <a:spcPct val="100000"/>
              </a:lnSpc>
            </a:pPr>
            <a:r>
              <a:rPr sz="1170" b="0">
                <a:solidFill>
                  <a:srgbClr val="475569"/>
                </a:solidFill>
                <a:latin typeface="LINE Seed Sans TH"/>
                <a:ea typeface="LINE Seed Sans TH"/>
                <a:cs typeface="LINE Seed Sans TH"/>
              </a:rPr>
              <a:t>รับจำกัด</a:t>
            </a:r>
          </a:p>
        </p:txBody>
      </p:sp>
      <p:sp>
        <p:nvSpPr>
          <p:cNvPr id="18" name="TextBox 17"/>
          <p:cNvSpPr txBox="1"/>
          <p:nvPr/>
        </p:nvSpPr>
        <p:spPr>
          <a:xfrm rot="21420000">
            <a:off x="7854489" y="5346185"/>
            <a:ext cx="939551" cy="235366"/>
          </a:xfrm>
          <a:prstGeom prst="rect">
            <a:avLst/>
          </a:prstGeom>
          <a:noFill/>
        </p:spPr>
        <p:txBody>
          <a:bodyPr wrap="none" anchor="t" lIns="57150" rIns="5715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170" b="1">
                <a:solidFill>
                  <a:srgbClr val="475569"/>
                </a:solidFill>
                <a:latin typeface="LINE Seed Sans TH"/>
                <a:ea typeface="LINE Seed Sans TH"/>
                <a:cs typeface="LINE Seed Sans TH"/>
              </a:rPr>
              <a:t>ราคารอบแรก</a:t>
            </a:r>
          </a:p>
        </p:txBody>
      </p:sp>
      <p:sp>
        <p:nvSpPr>
          <p:cNvPr id="19" name="TextBox 18"/>
          <p:cNvSpPr txBox="1"/>
          <p:nvPr/>
        </p:nvSpPr>
        <p:spPr>
          <a:xfrm rot="21420000">
            <a:off x="7875447" y="5359138"/>
            <a:ext cx="2606426" cy="965606"/>
          </a:xfrm>
          <a:prstGeom prst="rect">
            <a:avLst/>
          </a:prstGeom>
          <a:noFill/>
        </p:spPr>
        <p:txBody>
          <a:bodyPr wrap="none" anchor="t" lIns="57150" rIns="5715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4800" b="0">
                <a:solidFill>
                  <a:srgbClr val="FF7A3D"/>
                </a:solidFill>
                <a:effectLst>
                  <a:outerShdw blurRad="76200" dist="38100" dir="5400000" algn="t" rotWithShape="0">
                    <a:srgbClr val="000000">
                      <a:alpha val="45000"/>
                    </a:srgbClr>
                  </a:outerShdw>
                </a:effectLst>
                <a:latin typeface="LINE Seed Sans TH Heavy"/>
                <a:ea typeface="LINE Seed Sans TH Heavy"/>
                <a:cs typeface="LINE Seed Sans TH Heavy"/>
              </a:rPr>
              <a:t>6,990</a:t>
            </a:r>
            <a:r>
              <a:rPr sz="1440" b="1">
                <a:solidFill>
                  <a:srgbClr val="0F172A"/>
                </a:solidFill>
                <a:effectLst>
                  <a:outerShdw blurRad="76200" dist="38100" dir="5400000" algn="t" rotWithShape="0">
                    <a:srgbClr val="000000">
                      <a:alpha val="45000"/>
                    </a:srgbClr>
                  </a:outerShdw>
                </a:effectLst>
                <a:latin typeface="LINE Seed Sans TH"/>
                <a:ea typeface="LINE Seed Sans TH"/>
                <a:cs typeface="LINE Seed Sans TH"/>
              </a:rPr>
              <a:t>บาท/ท่าน</a:t>
            </a:r>
          </a:p>
        </p:txBody>
      </p:sp>
      <p:sp>
        <p:nvSpPr>
          <p:cNvPr id="20" name="TextBox 19"/>
          <p:cNvSpPr txBox="1"/>
          <p:nvPr/>
        </p:nvSpPr>
        <p:spPr>
          <a:xfrm rot="21420000">
            <a:off x="10557299" y="5239369"/>
            <a:ext cx="1370409" cy="339471"/>
          </a:xfrm>
          <a:prstGeom prst="rect">
            <a:avLst/>
          </a:prstGeom>
          <a:noFill/>
        </p:spPr>
        <p:txBody>
          <a:bodyPr wrap="none" anchor="t" lIns="57150" rIns="5715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LINE Seed Sans TH"/>
                <a:ea typeface="LINE Seed Sans TH"/>
                <a:cs typeface="LINE Seed Sans TH"/>
              </a:rPr>
              <a:t>ราคาเต็ม </a:t>
            </a:r>
            <a:r>
              <a:rPr sz="1688" b="1" strike="sngStrike">
                <a:solidFill>
                  <a:srgbClr val="475569"/>
                </a:solidFill>
                <a:latin typeface="LINE Seed Sans TH"/>
                <a:ea typeface="LINE Seed Sans TH"/>
                <a:cs typeface="LINE Seed Sans TH"/>
              </a:rPr>
              <a:t>8,500</a:t>
            </a:r>
          </a:p>
        </p:txBody>
      </p:sp>
      <p:sp>
        <p:nvSpPr>
          <p:cNvPr id="21" name="TextBox 20"/>
          <p:cNvSpPr txBox="1"/>
          <p:nvPr/>
        </p:nvSpPr>
        <p:spPr>
          <a:xfrm rot="21420000">
            <a:off x="10710223" y="5657915"/>
            <a:ext cx="1207889" cy="257997"/>
          </a:xfrm>
          <a:prstGeom prst="rect">
            <a:avLst/>
          </a:prstGeom>
          <a:noFill/>
        </p:spPr>
        <p:txBody>
          <a:bodyPr wrap="none" anchor="t" lIns="57150" rIns="5715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282" b="1">
                <a:solidFill>
                  <a:srgbClr val="FF7A3D"/>
                </a:solidFill>
                <a:latin typeface="LINE Seed Sans TH"/>
                <a:ea typeface="LINE Seed Sans TH"/>
                <a:cs typeface="LINE Seed Sans TH"/>
              </a:rPr>
              <a:t>ประหยัด 1,510.-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40860" y="6903690"/>
            <a:ext cx="1849784" cy="422452"/>
          </a:xfrm>
          <a:prstGeom prst="rect">
            <a:avLst/>
          </a:prstGeom>
          <a:noFill/>
        </p:spPr>
        <p:txBody>
          <a:bodyPr wrap="none" anchor="t" lIns="57150" rIns="5715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LINE Seed Sans TH"/>
                <a:ea typeface="LINE Seed Sans TH"/>
                <a:cs typeface="LINE Seed Sans TH"/>
              </a:rPr>
              <a:t>สนใจ คอมเมนต์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