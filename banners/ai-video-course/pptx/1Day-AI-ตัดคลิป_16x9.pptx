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 · Classic"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762" y="0"/>
            <a:ext cx="7996237" cy="7715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7650"/>
            <a:ext cx="628650" cy="590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66762"/>
            <a:ext cx="2343150" cy="2409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7362" y="747712"/>
            <a:ext cx="2443162" cy="2409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076575"/>
            <a:ext cx="3848100" cy="590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057650"/>
            <a:ext cx="3257550" cy="11334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9550" y="4057650"/>
            <a:ext cx="3257550" cy="11334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353050"/>
            <a:ext cx="6667500" cy="12477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475" y="6586537"/>
            <a:ext cx="3409950" cy="11287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44350" y="5948362"/>
            <a:ext cx="1181100" cy="1357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09750" y="752475"/>
            <a:ext cx="2566838" cy="1448409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0" spc="-144">
                <a:solidFill>
                  <a:srgbClr val="FF7A3D"/>
                </a:solidFill>
                <a:latin typeface="LINE Seed Sans TH Heavy"/>
                <a:ea typeface="LINE Seed Sans TH Heavy"/>
                <a:cs typeface="LINE Seed Sans TH Heavy"/>
              </a:rPr>
              <a:t>1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9750" y="1739949"/>
            <a:ext cx="4298602" cy="1448409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0" spc="-144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AI ตัดคลิป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740" y="3105745"/>
            <a:ext cx="3412926" cy="51297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ทำคลิป ตัดต่อ </a:t>
            </a:r>
            <a:r>
              <a:rPr sz="255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พร้อมขาย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467" y="4231927"/>
            <a:ext cx="678209" cy="26674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26" b="0" spc="53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วันเรียน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467" y="4498627"/>
            <a:ext cx="2546746" cy="51297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เสาร์ 7 พ.ย.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1417" y="4231927"/>
            <a:ext cx="709314" cy="26674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26" b="0" spc="53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รับจำกัด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1417" y="4498627"/>
            <a:ext cx="2020044" cy="51297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10</a:t>
            </a:r>
            <a:r>
              <a:rPr sz="255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 ที่นั่งเท่านั้น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467" y="5520630"/>
            <a:ext cx="1030039" cy="24366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11" b="1" spc="48">
                <a:solidFill>
                  <a:srgbClr val="C7D2FE"/>
                </a:solidFill>
                <a:latin typeface="LINE Seed Sans TH"/>
                <a:ea typeface="LINE Seed Sans TH"/>
                <a:cs typeface="LINE Seed Sans TH"/>
              </a:rPr>
              <a:t>ราคารอบแรก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467" y="5558730"/>
            <a:ext cx="2894260" cy="107725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355" b="0">
                <a:solidFill>
                  <a:srgbClr val="FF7A3D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 Heavy"/>
                <a:ea typeface="LINE Seed Sans TH Heavy"/>
                <a:cs typeface="LINE Seed Sans TH Heavy"/>
              </a:rPr>
              <a:t>6,990</a:t>
            </a:r>
            <a:r>
              <a:rPr sz="1607" b="1">
                <a:solidFill>
                  <a:srgbClr val="FF7A3D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บาท/ท่าน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1871" y="5574506"/>
            <a:ext cx="1457176" cy="39050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39" b="0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ราคาเต็ม </a:t>
            </a:r>
            <a:r>
              <a:rPr sz="1941" b="1" strike="sngStrike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8,500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882" y="6053435"/>
            <a:ext cx="1197917" cy="25584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72" b="1">
                <a:solidFill>
                  <a:srgbClr val="FFB088"/>
                </a:solidFill>
                <a:latin typeface="LINE Seed Sans TH"/>
                <a:ea typeface="LINE Seed Sans TH"/>
                <a:cs typeface="LINE Seed Sans TH"/>
              </a:rPr>
              <a:t>ประหยัด 1,510.-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710" y="6903690"/>
            <a:ext cx="1849784" cy="42245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LINE Seed Sans TH"/>
                <a:ea typeface="LINE Seed Sans TH"/>
                <a:cs typeface="LINE Seed Sans TH"/>
              </a:rPr>
              <a:t>สนใจ คอมเมนต์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 · Spotlight"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2857500"/>
            <a:ext cx="6477000" cy="4857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85750"/>
            <a:ext cx="628650" cy="590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7525" y="323850"/>
            <a:ext cx="2400300" cy="2362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412" y="309562"/>
            <a:ext cx="2405062" cy="2371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975" y="2514600"/>
            <a:ext cx="3409950" cy="523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143250"/>
            <a:ext cx="3143250" cy="1181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3925" y="5638800"/>
            <a:ext cx="4248150" cy="206216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6329362"/>
            <a:ext cx="1085850" cy="11144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3100" y="3143250"/>
            <a:ext cx="3543300" cy="22193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02200" y="419100"/>
            <a:ext cx="2311300" cy="1297533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50" b="0" spc="-129">
                <a:solidFill>
                  <a:srgbClr val="FF7A3D"/>
                </a:solidFill>
                <a:latin typeface="LINE Seed Sans TH Heavy"/>
                <a:ea typeface="LINE Seed Sans TH Heavy"/>
                <a:cs typeface="LINE Seed Sans TH Heavy"/>
              </a:rPr>
              <a:t>1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6508" y="1303734"/>
            <a:ext cx="3862833" cy="1297533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50" b="0" spc="-129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AI ตัดคลิป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4177" y="2544514"/>
            <a:ext cx="3024782" cy="45262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ทำคลิป ตัดต่อ </a:t>
            </a:r>
            <a:r>
              <a:rPr sz="225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พร้อมขาย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820" y="3326010"/>
            <a:ext cx="743991" cy="282439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4" b="0" spc="56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รับจำกัด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820" y="3602235"/>
            <a:ext cx="2132111" cy="543153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10</a:t>
            </a:r>
            <a:r>
              <a:rPr sz="270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 ที่นั่งเท่านั้น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5819775"/>
            <a:ext cx="647551" cy="27157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วันเรียน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7873" y="6038850"/>
            <a:ext cx="3460105" cy="66385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เสาร์ 7 พ.ย.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5173" y="6878835"/>
            <a:ext cx="1518642" cy="34201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NE Seed Sans TH"/>
                <a:ea typeface="LINE Seed Sans TH"/>
                <a:cs typeface="LINE Seed Sans TH"/>
              </a:rPr>
              <a:t>สนใจ คอมเมนต์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7320" y="3318420"/>
            <a:ext cx="1084064" cy="25799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82" b="1" spc="51">
                <a:solidFill>
                  <a:srgbClr val="C7D2FE"/>
                </a:solidFill>
                <a:latin typeface="LINE Seed Sans TH"/>
                <a:ea typeface="LINE Seed Sans TH"/>
                <a:cs typeface="LINE Seed Sans TH"/>
              </a:rPr>
              <a:t>ราคารอบแรก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7320" y="3375570"/>
            <a:ext cx="3057971" cy="114062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670" b="0">
                <a:solidFill>
                  <a:srgbClr val="FF7A3D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 Heavy"/>
                <a:ea typeface="LINE Seed Sans TH Heavy"/>
                <a:cs typeface="LINE Seed Sans TH Heavy"/>
              </a:rPr>
              <a:t>6,990</a:t>
            </a:r>
            <a:r>
              <a:rPr sz="1701" b="1">
                <a:solidFill>
                  <a:srgbClr val="FF7A3D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บาท/ท่าน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7320" y="4381351"/>
            <a:ext cx="1535757" cy="413475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18" b="0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ราคาเต็ม </a:t>
            </a:r>
            <a:r>
              <a:rPr sz="2055" b="1" strike="sngStrike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8,500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6028" y="4867721"/>
            <a:ext cx="1261764" cy="27089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47" b="1">
                <a:solidFill>
                  <a:srgbClr val="FFB088"/>
                </a:solidFill>
                <a:latin typeface="LINE Seed Sans TH"/>
                <a:ea typeface="LINE Seed Sans TH"/>
                <a:cs typeface="LINE Seed Sans TH"/>
              </a:rPr>
              <a:t>ประหยัด 1,510.-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 · Ticket"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77150" cy="7715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0" y="247650"/>
            <a:ext cx="561975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662" y="561975"/>
            <a:ext cx="2319337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7650" y="542925"/>
            <a:ext cx="203835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0" y="2638425"/>
            <a:ext cx="3409950" cy="523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162" y="3114675"/>
            <a:ext cx="6700837" cy="409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6625" y="6586537"/>
            <a:ext cx="3409950" cy="11287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10600" y="676274"/>
            <a:ext cx="2158007" cy="120700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0" spc="-120">
                <a:solidFill>
                  <a:srgbClr val="FF7A3D"/>
                </a:solidFill>
                <a:latin typeface="LINE Seed Sans TH Heavy"/>
                <a:ea typeface="LINE Seed Sans TH Heavy"/>
                <a:cs typeface="LINE Seed Sans TH Heavy"/>
              </a:rPr>
              <a:t>1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0600" y="1499145"/>
            <a:ext cx="3601342" cy="120700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0" spc="-120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AI ตัดคลิป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0" y="2668637"/>
            <a:ext cx="3024782" cy="45262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ทำคลิป ตัดต่อ </a:t>
            </a:r>
            <a:r>
              <a:rPr sz="225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พร้อมขาย</a:t>
            </a:r>
          </a:p>
        </p:txBody>
      </p:sp>
      <p:sp>
        <p:nvSpPr>
          <p:cNvPr id="13" name="TextBox 12"/>
          <p:cNvSpPr txBox="1"/>
          <p:nvPr/>
        </p:nvSpPr>
        <p:spPr>
          <a:xfrm rot="21420000">
            <a:off x="7775895" y="3820247"/>
            <a:ext cx="3638401" cy="217261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80" b="1" spc="302">
                <a:solidFill>
                  <a:srgbClr val="2563FF"/>
                </a:solidFill>
                <a:latin typeface="LINE Seed Sans TH"/>
                <a:ea typeface="LINE Seed Sans TH"/>
                <a:cs typeface="LINE Seed Sans TH"/>
              </a:rPr>
              <a:t>ADMIT ONE · AI VIDEO WORKSHOP</a:t>
            </a:r>
          </a:p>
        </p:txBody>
      </p:sp>
      <p:sp>
        <p:nvSpPr>
          <p:cNvPr id="14" name="TextBox 13"/>
          <p:cNvSpPr txBox="1"/>
          <p:nvPr/>
        </p:nvSpPr>
        <p:spPr>
          <a:xfrm rot="21420000">
            <a:off x="7818199" y="4544764"/>
            <a:ext cx="2117526" cy="42245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LINE Seed Sans TH"/>
                <a:ea typeface="LINE Seed Sans TH"/>
                <a:cs typeface="LINE Seed Sans TH"/>
              </a:rPr>
              <a:t>เสาร์ 7 พ.ย. 2026</a:t>
            </a:r>
          </a:p>
        </p:txBody>
      </p:sp>
      <p:sp>
        <p:nvSpPr>
          <p:cNvPr id="15" name="TextBox 14"/>
          <p:cNvSpPr txBox="1"/>
          <p:nvPr/>
        </p:nvSpPr>
        <p:spPr>
          <a:xfrm rot="21420000">
            <a:off x="7801897" y="4347426"/>
            <a:ext cx="576262" cy="23536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70" b="0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วันเรียน</a:t>
            </a:r>
          </a:p>
        </p:txBody>
      </p:sp>
      <p:sp>
        <p:nvSpPr>
          <p:cNvPr id="16" name="TextBox 15"/>
          <p:cNvSpPr txBox="1"/>
          <p:nvPr/>
        </p:nvSpPr>
        <p:spPr>
          <a:xfrm rot="21420000">
            <a:off x="11619507" y="4053656"/>
            <a:ext cx="1256555" cy="86753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4312" b="0">
                <a:solidFill>
                  <a:srgbClr val="2563FF"/>
                </a:solidFill>
                <a:latin typeface="LINE Seed Sans TH Heavy"/>
                <a:ea typeface="LINE Seed Sans TH Heavy"/>
                <a:cs typeface="LINE Seed Sans TH Heavy"/>
              </a:rPr>
              <a:t>10</a:t>
            </a:r>
            <a:r>
              <a:rPr sz="1875" b="1">
                <a:solidFill>
                  <a:srgbClr val="0F172A"/>
                </a:solidFill>
                <a:latin typeface="LINE Seed Sans TH"/>
                <a:ea typeface="LINE Seed Sans TH"/>
                <a:cs typeface="LINE Seed Sans TH"/>
              </a:rPr>
              <a:t>ที่นั่ง</a:t>
            </a:r>
          </a:p>
        </p:txBody>
      </p:sp>
      <p:sp>
        <p:nvSpPr>
          <p:cNvPr id="17" name="TextBox 16"/>
          <p:cNvSpPr txBox="1"/>
          <p:nvPr/>
        </p:nvSpPr>
        <p:spPr>
          <a:xfrm rot="21420000">
            <a:off x="12245489" y="3961064"/>
            <a:ext cx="609600" cy="23536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70" b="0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รับจำกัด</a:t>
            </a:r>
          </a:p>
        </p:txBody>
      </p:sp>
      <p:sp>
        <p:nvSpPr>
          <p:cNvPr id="18" name="TextBox 17"/>
          <p:cNvSpPr txBox="1"/>
          <p:nvPr/>
        </p:nvSpPr>
        <p:spPr>
          <a:xfrm rot="21420000">
            <a:off x="7854489" y="5346185"/>
            <a:ext cx="939551" cy="23536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70" b="1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ราคารอบแรก</a:t>
            </a:r>
          </a:p>
        </p:txBody>
      </p:sp>
      <p:sp>
        <p:nvSpPr>
          <p:cNvPr id="19" name="TextBox 18"/>
          <p:cNvSpPr txBox="1"/>
          <p:nvPr/>
        </p:nvSpPr>
        <p:spPr>
          <a:xfrm rot="21420000">
            <a:off x="7875447" y="5359138"/>
            <a:ext cx="2606426" cy="96560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FF7A3D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 Heavy"/>
                <a:ea typeface="LINE Seed Sans TH Heavy"/>
                <a:cs typeface="LINE Seed Sans TH Heavy"/>
              </a:rPr>
              <a:t>6,990</a:t>
            </a:r>
            <a:r>
              <a:rPr sz="1440" b="1">
                <a:solidFill>
                  <a:srgbClr val="0F172A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บาท/ท่าน</a:t>
            </a:r>
          </a:p>
        </p:txBody>
      </p:sp>
      <p:sp>
        <p:nvSpPr>
          <p:cNvPr id="20" name="TextBox 19"/>
          <p:cNvSpPr txBox="1"/>
          <p:nvPr/>
        </p:nvSpPr>
        <p:spPr>
          <a:xfrm rot="21420000">
            <a:off x="10557299" y="5239369"/>
            <a:ext cx="1370409" cy="339471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ราคาเต็ม </a:t>
            </a:r>
            <a:r>
              <a:rPr sz="1688" b="1" strike="sngStrike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8,500</a:t>
            </a:r>
          </a:p>
        </p:txBody>
      </p:sp>
      <p:sp>
        <p:nvSpPr>
          <p:cNvPr id="21" name="TextBox 20"/>
          <p:cNvSpPr txBox="1"/>
          <p:nvPr/>
        </p:nvSpPr>
        <p:spPr>
          <a:xfrm rot="21420000">
            <a:off x="10710223" y="5657915"/>
            <a:ext cx="1207889" cy="25799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82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ประหยัด 1,510.-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0860" y="6903690"/>
            <a:ext cx="1849784" cy="42245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LINE Seed Sans TH"/>
                <a:ea typeface="LINE Seed Sans TH"/>
                <a:cs typeface="LINE Seed Sans TH"/>
              </a:rPr>
              <a:t>สนใจ คอมเมนต์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