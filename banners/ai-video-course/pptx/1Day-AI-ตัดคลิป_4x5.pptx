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 · Classic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0" y="4953000"/>
            <a:ext cx="6324600" cy="5295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19100"/>
            <a:ext cx="685800" cy="647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62100"/>
            <a:ext cx="2500312" cy="2571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2912" y="1543050"/>
            <a:ext cx="2224087" cy="2571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591050"/>
            <a:ext cx="5829300" cy="847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" y="6877050"/>
            <a:ext cx="1733550" cy="1714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8810625"/>
            <a:ext cx="4457700" cy="1381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9700" y="8810625"/>
            <a:ext cx="4457700" cy="13811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10210800"/>
            <a:ext cx="9067800" cy="1466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1475" y="11749087"/>
            <a:ext cx="3762375" cy="110966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62150" y="971550"/>
            <a:ext cx="3946326" cy="2263140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250" b="0" spc="-225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2150" y="2514600"/>
            <a:ext cx="6652319" cy="2263140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1250" b="0" spc="-225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695" y="4602063"/>
            <a:ext cx="5159126" cy="784555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390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5680471"/>
            <a:ext cx="3794373" cy="42245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คอร์สเวิร์กช็อปสำหรับเจ้าของธุรกิจ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" y="6067127"/>
            <a:ext cx="3385244" cy="42245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ตัดต่อเองได้ ไม่ต้องเป็นสายเทค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027" y="9019133"/>
            <a:ext cx="810964" cy="32951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38" b="0" spc="66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027" y="9352508"/>
            <a:ext cx="3119139" cy="633679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เสาร์ 7 พ.ย.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1127" y="9019133"/>
            <a:ext cx="849213" cy="32951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38" b="0" spc="66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รับจำกัด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1127" y="9352508"/>
            <a:ext cx="2468463" cy="633679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15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10</a:t>
            </a:r>
            <a:r>
              <a:rPr sz="31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 ที่นั่งเท่านั้น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10401300"/>
            <a:ext cx="1192262" cy="28666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25" b="1" spc="57">
                <a:solidFill>
                  <a:srgbClr val="C7D2FE"/>
                </a:solidFill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10458450"/>
            <a:ext cx="3385095" cy="126735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300" b="0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  <a:r>
              <a:rPr sz="1890" b="1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7120" y="10479583"/>
            <a:ext cx="1694110" cy="45941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75" b="0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ราคาเต็ม </a:t>
            </a:r>
            <a:r>
              <a:rPr sz="2284" b="1" strike="sngStrike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8,500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9074" y="11028610"/>
            <a:ext cx="1389757" cy="30099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96" b="1">
                <a:solidFill>
                  <a:srgbClr val="FFB088"/>
                </a:solidFill>
                <a:latin typeface="LINE Seed Sans TH"/>
                <a:ea typeface="LINE Seed Sans TH"/>
                <a:cs typeface="LINE Seed Sans TH"/>
              </a:rPr>
              <a:t>ประหยัด 1,510.-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508" y="12085439"/>
            <a:ext cx="2057995" cy="47314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352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B · Spotlight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5334000"/>
            <a:ext cx="7505700" cy="6048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0125" y="323850"/>
            <a:ext cx="666750" cy="628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533525"/>
            <a:ext cx="2576512" cy="27289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1509712"/>
            <a:ext cx="2590800" cy="27336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05050" y="4533900"/>
            <a:ext cx="5610225" cy="8191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429375"/>
            <a:ext cx="3343275" cy="344328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3212" y="5857875"/>
            <a:ext cx="3633787" cy="37909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437" y="9482137"/>
            <a:ext cx="1181100" cy="11525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43150" y="10267950"/>
            <a:ext cx="5600700" cy="25098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298031" y="1162049"/>
            <a:ext cx="3690788" cy="211226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0" b="0" spc="-210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5224" y="2602110"/>
            <a:ext cx="6216401" cy="211226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0" b="0" spc="-210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5328" y="4556521"/>
            <a:ext cx="4964906" cy="754380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375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375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5" name="TextBox 14"/>
          <p:cNvSpPr txBox="1"/>
          <p:nvPr/>
        </p:nvSpPr>
        <p:spPr>
          <a:xfrm rot="21240002">
            <a:off x="1016025" y="7082034"/>
            <a:ext cx="1024532" cy="431505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45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รับเพียง</a:t>
            </a:r>
          </a:p>
        </p:txBody>
      </p:sp>
      <p:sp>
        <p:nvSpPr>
          <p:cNvPr id="16" name="TextBox 15"/>
          <p:cNvSpPr txBox="1"/>
          <p:nvPr/>
        </p:nvSpPr>
        <p:spPr>
          <a:xfrm rot="21240002">
            <a:off x="928063" y="7153276"/>
            <a:ext cx="1344364" cy="165963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8250" b="0">
                <a:solidFill>
                  <a:srgbClr val="2563FF"/>
                </a:solidFill>
                <a:latin typeface="LINE Seed Sans TH Heavy"/>
                <a:ea typeface="LINE Seed Sans TH Heavy"/>
                <a:cs typeface="LINE Seed Sans TH Heavy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 rot="21240002">
            <a:off x="1359194" y="8435471"/>
            <a:ext cx="622548" cy="431505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145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ที่นั่ง</a:t>
            </a:r>
          </a:p>
        </p:txBody>
      </p:sp>
      <p:sp>
        <p:nvSpPr>
          <p:cNvPr id="18" name="TextBox 17"/>
          <p:cNvSpPr txBox="1"/>
          <p:nvPr/>
        </p:nvSpPr>
        <p:spPr>
          <a:xfrm rot="480000">
            <a:off x="8023668" y="6771749"/>
            <a:ext cx="1278582" cy="33192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19" name="TextBox 18"/>
          <p:cNvSpPr txBox="1"/>
          <p:nvPr/>
        </p:nvSpPr>
        <p:spPr>
          <a:xfrm rot="480000">
            <a:off x="7519991" y="6855574"/>
            <a:ext cx="2150566" cy="112855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5610" b="0">
                <a:solidFill>
                  <a:srgbClr val="FFFFFF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</a:p>
        </p:txBody>
      </p:sp>
      <p:sp>
        <p:nvSpPr>
          <p:cNvPr id="20" name="TextBox 19"/>
          <p:cNvSpPr txBox="1"/>
          <p:nvPr/>
        </p:nvSpPr>
        <p:spPr>
          <a:xfrm rot="480000">
            <a:off x="8054058" y="7751087"/>
            <a:ext cx="942528" cy="33192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1" name="TextBox 20"/>
          <p:cNvSpPr txBox="1"/>
          <p:nvPr/>
        </p:nvSpPr>
        <p:spPr>
          <a:xfrm rot="480000">
            <a:off x="7679095" y="8043997"/>
            <a:ext cx="1607790" cy="348523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733" b="1" strike="sngStrike">
                <a:solidFill>
                  <a:srgbClr val="FFFFFF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ราคาเต็ม 8,500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9650" y="10448925"/>
            <a:ext cx="647551" cy="27157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350" b="0">
                <a:solidFill>
                  <a:srgbClr val="B6C2D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9061" y="10629900"/>
            <a:ext cx="4828728" cy="935431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4650" b="0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เสาร์ 7 พ.ย.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7979" y="11758166"/>
            <a:ext cx="2093862" cy="48193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396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C · Ticket"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25" y="4667250"/>
            <a:ext cx="6315075" cy="5448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81000"/>
            <a:ext cx="666750" cy="628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390650"/>
            <a:ext cx="2614612" cy="2686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825" y="1366837"/>
            <a:ext cx="2543175" cy="2695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381500"/>
            <a:ext cx="5829300" cy="8477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7605712"/>
            <a:ext cx="7810500" cy="4953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8425" y="7148512"/>
            <a:ext cx="1081087" cy="1333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75" y="11749087"/>
            <a:ext cx="3762375" cy="11096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76450" y="990599"/>
            <a:ext cx="3690788" cy="211226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0" b="0" spc="-210">
                <a:solidFill>
                  <a:srgbClr val="FF7A3D"/>
                </a:solidFill>
                <a:latin typeface="LINE Seed Sans TH Heavy"/>
                <a:ea typeface="LINE Seed Sans TH Heavy"/>
                <a:cs typeface="LINE Seed Sans TH Heavy"/>
              </a:rPr>
              <a:t>1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6450" y="2430660"/>
            <a:ext cx="6216401" cy="2112264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0500" b="0" spc="-210">
                <a:solidFill>
                  <a:srgbClr val="E6EEFF"/>
                </a:solidFill>
                <a:latin typeface="LINE Seed Sans TH Heavy"/>
                <a:ea typeface="LINE Seed Sans TH Heavy"/>
                <a:cs typeface="LINE Seed Sans TH Heavy"/>
              </a:rPr>
              <a:t>AI ตัดคลิป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695" y="4396085"/>
            <a:ext cx="5159126" cy="784555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3900" b="1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ทำคลิป ตัดต่อ </a:t>
            </a:r>
            <a:r>
              <a:rPr sz="3900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พร้อมขาย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450" y="5474493"/>
            <a:ext cx="3662808" cy="407365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25" b="0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คอร์สเวิร์กช็อปสำหรับเจ้าของธุรกิจ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" y="5847308"/>
            <a:ext cx="3268414" cy="407365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025" b="0">
                <a:solidFill>
                  <a:srgbClr val="E6EEFF"/>
                </a:solidFill>
                <a:latin typeface="LINE Seed Sans TH"/>
                <a:ea typeface="LINE Seed Sans TH"/>
                <a:cs typeface="LINE Seed Sans TH"/>
              </a:rPr>
              <a:t>ตัดต่อเองได้ ไม่ต้องเป็นสายเทค</a:t>
            </a:r>
          </a:p>
        </p:txBody>
      </p:sp>
      <p:sp>
        <p:nvSpPr>
          <p:cNvPr id="16" name="TextBox 15"/>
          <p:cNvSpPr txBox="1"/>
          <p:nvPr/>
        </p:nvSpPr>
        <p:spPr>
          <a:xfrm rot="21420000">
            <a:off x="715331" y="8406921"/>
            <a:ext cx="4694783" cy="282439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4" b="1" spc="393">
                <a:solidFill>
                  <a:srgbClr val="2563FF"/>
                </a:solidFill>
                <a:latin typeface="LINE Seed Sans TH"/>
                <a:ea typeface="LINE Seed Sans TH"/>
                <a:cs typeface="LINE Seed Sans TH"/>
              </a:rPr>
              <a:t>ADMIT ONE · AI VIDEO WORKSHOP</a:t>
            </a:r>
          </a:p>
        </p:txBody>
      </p:sp>
      <p:sp>
        <p:nvSpPr>
          <p:cNvPr id="17" name="TextBox 16"/>
          <p:cNvSpPr txBox="1"/>
          <p:nvPr/>
        </p:nvSpPr>
        <p:spPr>
          <a:xfrm rot="21420000">
            <a:off x="769372" y="9330595"/>
            <a:ext cx="2717899" cy="54918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730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เสาร์ 7 พ.ย. 2026</a:t>
            </a:r>
          </a:p>
        </p:txBody>
      </p:sp>
      <p:sp>
        <p:nvSpPr>
          <p:cNvPr id="18" name="TextBox 17"/>
          <p:cNvSpPr txBox="1"/>
          <p:nvPr/>
        </p:nvSpPr>
        <p:spPr>
          <a:xfrm rot="21420000">
            <a:off x="748428" y="9078800"/>
            <a:ext cx="714672" cy="30597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21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วันเรียน</a:t>
            </a:r>
          </a:p>
        </p:txBody>
      </p:sp>
      <p:sp>
        <p:nvSpPr>
          <p:cNvPr id="19" name="TextBox 18"/>
          <p:cNvSpPr txBox="1"/>
          <p:nvPr/>
        </p:nvSpPr>
        <p:spPr>
          <a:xfrm rot="21420000">
            <a:off x="5247590" y="8725015"/>
            <a:ext cx="1599158" cy="112779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5606" b="0">
                <a:solidFill>
                  <a:srgbClr val="2563FF"/>
                </a:solidFill>
                <a:latin typeface="LINE Seed Sans TH Heavy"/>
                <a:ea typeface="LINE Seed Sans TH Heavy"/>
                <a:cs typeface="LINE Seed Sans TH Heavy"/>
              </a:rPr>
              <a:t>10</a:t>
            </a:r>
            <a:r>
              <a:rPr sz="2438" b="1">
                <a:solidFill>
                  <a:srgbClr val="0F172A"/>
                </a:solidFill>
                <a:latin typeface="LINE Seed Sans TH"/>
                <a:ea typeface="LINE Seed Sans TH"/>
                <a:cs typeface="LINE Seed Sans TH"/>
              </a:rPr>
              <a:t>ที่นั่ง</a:t>
            </a:r>
          </a:p>
        </p:txBody>
      </p:sp>
      <p:sp>
        <p:nvSpPr>
          <p:cNvPr id="20" name="TextBox 19"/>
          <p:cNvSpPr txBox="1"/>
          <p:nvPr/>
        </p:nvSpPr>
        <p:spPr>
          <a:xfrm rot="21420000">
            <a:off x="6062198" y="8617959"/>
            <a:ext cx="757981" cy="30597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521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รับจำกัด</a:t>
            </a:r>
          </a:p>
        </p:txBody>
      </p:sp>
      <p:sp>
        <p:nvSpPr>
          <p:cNvPr id="21" name="TextBox 20"/>
          <p:cNvSpPr txBox="1"/>
          <p:nvPr/>
        </p:nvSpPr>
        <p:spPr>
          <a:xfrm rot="21420000">
            <a:off x="816492" y="10371363"/>
            <a:ext cx="1186904" cy="305976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521" b="1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ราคารอบแรก</a:t>
            </a:r>
          </a:p>
        </p:txBody>
      </p:sp>
      <p:sp>
        <p:nvSpPr>
          <p:cNvPr id="22" name="TextBox 21"/>
          <p:cNvSpPr txBox="1"/>
          <p:nvPr/>
        </p:nvSpPr>
        <p:spPr>
          <a:xfrm rot="21420000">
            <a:off x="843339" y="10380592"/>
            <a:ext cx="3353841" cy="1255288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6240" b="0">
                <a:solidFill>
                  <a:srgbClr val="FF7A3D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 Heavy"/>
                <a:ea typeface="LINE Seed Sans TH Heavy"/>
                <a:cs typeface="LINE Seed Sans TH Heavy"/>
              </a:rPr>
              <a:t>6,990</a:t>
            </a:r>
            <a:r>
              <a:rPr sz="1872" b="1">
                <a:solidFill>
                  <a:srgbClr val="0F172A"/>
                </a:solidFill>
                <a:effectLst>
                  <a:outerShdw blurRad="76200" dist="38100" dir="5400000" algn="t" rotWithShape="0">
                    <a:srgbClr val="000000">
                      <a:alpha val="45000"/>
                    </a:srgbClr>
                  </a:outerShdw>
                </a:effectLst>
                <a:latin typeface="LINE Seed Sans TH"/>
                <a:ea typeface="LINE Seed Sans TH"/>
                <a:cs typeface="LINE Seed Sans TH"/>
              </a:rPr>
              <a:t>บาท/ท่าน</a:t>
            </a:r>
          </a:p>
        </p:txBody>
      </p:sp>
      <p:sp>
        <p:nvSpPr>
          <p:cNvPr id="23" name="TextBox 22"/>
          <p:cNvSpPr txBox="1"/>
          <p:nvPr/>
        </p:nvSpPr>
        <p:spPr>
          <a:xfrm rot="21420000">
            <a:off x="4330333" y="10241481"/>
            <a:ext cx="1746944" cy="441312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755" b="0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ราคาเต็ม </a:t>
            </a:r>
            <a:r>
              <a:rPr sz="2194" b="1" strike="sngStrike">
                <a:solidFill>
                  <a:srgbClr val="475569"/>
                </a:solidFill>
                <a:latin typeface="LINE Seed Sans TH"/>
                <a:ea typeface="LINE Seed Sans TH"/>
                <a:cs typeface="LINE Seed Sans TH"/>
              </a:rPr>
              <a:t>8,500</a:t>
            </a:r>
          </a:p>
        </p:txBody>
      </p:sp>
      <p:sp>
        <p:nvSpPr>
          <p:cNvPr id="24" name="TextBox 23"/>
          <p:cNvSpPr txBox="1"/>
          <p:nvPr/>
        </p:nvSpPr>
        <p:spPr>
          <a:xfrm rot="21420000">
            <a:off x="4523509" y="10789728"/>
            <a:ext cx="1535757" cy="33539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667" b="1">
                <a:solidFill>
                  <a:srgbClr val="FF7A3D"/>
                </a:solidFill>
                <a:latin typeface="LINE Seed Sans TH"/>
                <a:ea typeface="LINE Seed Sans TH"/>
                <a:cs typeface="LINE Seed Sans TH"/>
              </a:rPr>
              <a:t>ประหยัด 1,510.-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0508" y="12085439"/>
            <a:ext cx="2057995" cy="473147"/>
          </a:xfrm>
          <a:prstGeom prst="rect">
            <a:avLst/>
          </a:prstGeom>
          <a:noFill/>
        </p:spPr>
        <p:txBody>
          <a:bodyPr wrap="none" anchor="t" lIns="57150" rIns="5715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352" b="1">
                <a:solidFill>
                  <a:srgbClr val="FFFFFF"/>
                </a:solidFill>
                <a:latin typeface="LINE Seed Sans TH"/>
                <a:ea typeface="LINE Seed Sans TH"/>
                <a:cs typeface="LINE Seed Sans TH"/>
              </a:rPr>
              <a:t>สนใจ คอมเมนต์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