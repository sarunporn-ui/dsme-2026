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 · Classic"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262" y="2095500"/>
            <a:ext cx="6281737" cy="6062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2900"/>
            <a:ext cx="6477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81075"/>
            <a:ext cx="2509837" cy="2581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7512" y="962025"/>
            <a:ext cx="2619375" cy="2581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667125"/>
            <a:ext cx="4733925" cy="704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552950"/>
            <a:ext cx="4000500" cy="1323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5848350"/>
            <a:ext cx="4000500" cy="1323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7334250"/>
            <a:ext cx="9067800" cy="1466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475" y="8967787"/>
            <a:ext cx="3524250" cy="1276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71675" y="771525"/>
            <a:ext cx="3179861" cy="181051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0" b="0" spc="-180">
                <a:solidFill>
                  <a:srgbClr val="FF7A3D"/>
                </a:solidFill>
                <a:latin typeface="LINE Seed Sans TH Heavy"/>
                <a:ea typeface="LINE Seed Sans TH Heavy"/>
                <a:cs typeface="LINE Seed Sans TH Heavy"/>
              </a:rPr>
              <a:t>1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1675" y="2005905"/>
            <a:ext cx="5344715" cy="181051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0" b="0" spc="-180">
                <a:solidFill>
                  <a:srgbClr val="E6EEFF"/>
                </a:solidFill>
                <a:latin typeface="LINE Seed Sans TH Heavy"/>
                <a:ea typeface="LINE Seed Sans TH Heavy"/>
                <a:cs typeface="LINE Seed Sans TH Heavy"/>
              </a:rPr>
              <a:t>AI ตัดคลิป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020" y="3691383"/>
            <a:ext cx="4189065" cy="633679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ทำคลิป ตัดต่อ </a:t>
            </a:r>
            <a:r>
              <a:rPr sz="3150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พร้อมขาย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4752975"/>
            <a:ext cx="777924" cy="31382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60" b="0" spc="62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วันเรียน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5067300"/>
            <a:ext cx="2976116" cy="60350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เสาร์ 7 พ.ย.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6048375"/>
            <a:ext cx="814387" cy="31382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60" b="0" spc="62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รับจำกัด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6362700"/>
            <a:ext cx="2356246" cy="60350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10</a:t>
            </a:r>
            <a:r>
              <a:rPr sz="300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 ที่นั่งเท่านั้น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7524750"/>
            <a:ext cx="1192262" cy="28666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25" b="1" spc="57">
                <a:solidFill>
                  <a:srgbClr val="C7D2FE"/>
                </a:solidFill>
                <a:latin typeface="LINE Seed Sans TH"/>
                <a:ea typeface="LINE Seed Sans TH"/>
                <a:cs typeface="LINE Seed Sans TH"/>
              </a:rPr>
              <a:t>ราคารอบแรก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7581900"/>
            <a:ext cx="3385095" cy="126735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300" b="0">
                <a:solidFill>
                  <a:srgbClr val="FF7A3D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 Heavy"/>
                <a:ea typeface="LINE Seed Sans TH Heavy"/>
                <a:cs typeface="LINE Seed Sans TH Heavy"/>
              </a:rPr>
              <a:t>6,990</a:t>
            </a:r>
            <a:r>
              <a:rPr sz="1890" b="1">
                <a:solidFill>
                  <a:srgbClr val="FF7A3D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"/>
                <a:ea typeface="LINE Seed Sans TH"/>
                <a:cs typeface="LINE Seed Sans TH"/>
              </a:rPr>
              <a:t>บาท/ท่าน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7120" y="7603033"/>
            <a:ext cx="1694110" cy="45941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75" b="0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ราคาเต็ม </a:t>
            </a:r>
            <a:r>
              <a:rPr sz="2284" b="1" strike="sngStrike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8,500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9074" y="8152060"/>
            <a:ext cx="1389757" cy="30099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96" b="1">
                <a:solidFill>
                  <a:srgbClr val="FFB088"/>
                </a:solidFill>
                <a:latin typeface="LINE Seed Sans TH"/>
                <a:ea typeface="LINE Seed Sans TH"/>
                <a:cs typeface="LINE Seed Sans TH"/>
              </a:rPr>
              <a:t>ประหยัด 1,510.-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742" y="9291339"/>
            <a:ext cx="1918543" cy="439350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84" b="1">
                <a:solidFill>
                  <a:srgbClr val="FFFFFF"/>
                </a:solidFill>
                <a:latin typeface="LINE Seed Sans TH"/>
                <a:ea typeface="LINE Seed Sans TH"/>
                <a:cs typeface="LINE Seed Sans TH"/>
              </a:rPr>
              <a:t>สนใจ คอมเมนต์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B · Spotlight"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3810000"/>
            <a:ext cx="7048500" cy="647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2900"/>
            <a:ext cx="60960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771525"/>
            <a:ext cx="2643187" cy="2609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2" y="752475"/>
            <a:ext cx="2647950" cy="2609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0" y="3390900"/>
            <a:ext cx="4514850" cy="676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333875"/>
            <a:ext cx="3095625" cy="31956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1812" y="4095750"/>
            <a:ext cx="3405187" cy="353853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8225" y="7134225"/>
            <a:ext cx="900112" cy="981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4625" y="7981950"/>
            <a:ext cx="4857750" cy="22621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5665" y="676275"/>
            <a:ext cx="2975520" cy="1689811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0" b="0" spc="-168">
                <a:solidFill>
                  <a:srgbClr val="FF7A3D"/>
                </a:solidFill>
                <a:latin typeface="LINE Seed Sans TH Heavy"/>
                <a:ea typeface="LINE Seed Sans TH Heavy"/>
                <a:cs typeface="LINE Seed Sans TH Heavy"/>
              </a:rPr>
              <a:t>1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5419" y="1828353"/>
            <a:ext cx="4996011" cy="1689811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400" b="0" spc="-168">
                <a:solidFill>
                  <a:srgbClr val="E6EEFF"/>
                </a:solidFill>
                <a:latin typeface="LINE Seed Sans TH Heavy"/>
                <a:ea typeface="LINE Seed Sans TH Heavy"/>
                <a:cs typeface="LINE Seed Sans TH Heavy"/>
              </a:rPr>
              <a:t>AI ตัดคลิป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7502" y="3410842"/>
            <a:ext cx="3994844" cy="60350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ทำคลิป ตัดต่อ </a:t>
            </a:r>
            <a:r>
              <a:rPr sz="3000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พร้อมขาย</a:t>
            </a:r>
          </a:p>
        </p:txBody>
      </p:sp>
      <p:sp>
        <p:nvSpPr>
          <p:cNvPr id="15" name="TextBox 14"/>
          <p:cNvSpPr txBox="1"/>
          <p:nvPr/>
        </p:nvSpPr>
        <p:spPr>
          <a:xfrm rot="21240002">
            <a:off x="940320" y="4947923"/>
            <a:ext cx="942082" cy="39227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LINE Seed Sans TH"/>
                <a:ea typeface="LINE Seed Sans TH"/>
                <a:cs typeface="LINE Seed Sans TH"/>
              </a:rPr>
              <a:t>รับเพียง</a:t>
            </a:r>
          </a:p>
        </p:txBody>
      </p:sp>
      <p:sp>
        <p:nvSpPr>
          <p:cNvPr id="16" name="TextBox 15"/>
          <p:cNvSpPr txBox="1"/>
          <p:nvPr/>
        </p:nvSpPr>
        <p:spPr>
          <a:xfrm rot="21240002">
            <a:off x="860276" y="5010139"/>
            <a:ext cx="1232594" cy="1508760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0" b="0">
                <a:solidFill>
                  <a:srgbClr val="2563FF"/>
                </a:solidFill>
                <a:latin typeface="LINE Seed Sans TH Heavy"/>
                <a:ea typeface="LINE Seed Sans TH Heavy"/>
                <a:cs typeface="LINE Seed Sans TH Heavy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 rot="21240002">
            <a:off x="1252404" y="6178354"/>
            <a:ext cx="576560" cy="39227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F172A"/>
                </a:solidFill>
                <a:latin typeface="LINE Seed Sans TH"/>
                <a:ea typeface="LINE Seed Sans TH"/>
                <a:cs typeface="LINE Seed Sans TH"/>
              </a:rPr>
              <a:t>ที่นั่ง</a:t>
            </a:r>
          </a:p>
        </p:txBody>
      </p:sp>
      <p:sp>
        <p:nvSpPr>
          <p:cNvPr id="18" name="TextBox 17"/>
          <p:cNvSpPr txBox="1"/>
          <p:nvPr/>
        </p:nvSpPr>
        <p:spPr>
          <a:xfrm rot="480000">
            <a:off x="8173810" y="4955077"/>
            <a:ext cx="1172765" cy="30175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"/>
                <a:ea typeface="LINE Seed Sans TH"/>
                <a:cs typeface="LINE Seed Sans TH"/>
              </a:rPr>
              <a:t>ราคารอบแรก</a:t>
            </a:r>
          </a:p>
        </p:txBody>
      </p:sp>
      <p:sp>
        <p:nvSpPr>
          <p:cNvPr id="19" name="TextBox 18"/>
          <p:cNvSpPr txBox="1"/>
          <p:nvPr/>
        </p:nvSpPr>
        <p:spPr>
          <a:xfrm rot="480000">
            <a:off x="7715007" y="5036433"/>
            <a:ext cx="1965573" cy="1025956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5100" b="0">
                <a:solidFill>
                  <a:srgbClr val="FFFFFF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 Heavy"/>
                <a:ea typeface="LINE Seed Sans TH Heavy"/>
                <a:cs typeface="LINE Seed Sans TH Heavy"/>
              </a:rPr>
              <a:t>6,990</a:t>
            </a:r>
          </a:p>
        </p:txBody>
      </p:sp>
      <p:sp>
        <p:nvSpPr>
          <p:cNvPr id="20" name="TextBox 19"/>
          <p:cNvSpPr txBox="1"/>
          <p:nvPr/>
        </p:nvSpPr>
        <p:spPr>
          <a:xfrm rot="480000">
            <a:off x="8201382" y="5845388"/>
            <a:ext cx="867221" cy="30175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"/>
                <a:ea typeface="LINE Seed Sans TH"/>
                <a:cs typeface="LINE Seed Sans TH"/>
              </a:rPr>
              <a:t>บาท/ท่าน</a:t>
            </a:r>
          </a:p>
        </p:txBody>
      </p:sp>
      <p:sp>
        <p:nvSpPr>
          <p:cNvPr id="21" name="TextBox 20"/>
          <p:cNvSpPr txBox="1"/>
          <p:nvPr/>
        </p:nvSpPr>
        <p:spPr>
          <a:xfrm rot="480000">
            <a:off x="7860316" y="6111777"/>
            <a:ext cx="1472356" cy="316839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75" b="1" strike="sngStrike">
                <a:solidFill>
                  <a:srgbClr val="FFFFFF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"/>
                <a:ea typeface="LINE Seed Sans TH"/>
                <a:cs typeface="LINE Seed Sans TH"/>
              </a:rPr>
              <a:t>ราคาเต็ม 8,500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9650" y="8162925"/>
            <a:ext cx="647551" cy="271576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วันเรียน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9317" y="8362950"/>
            <a:ext cx="4068365" cy="784555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0">
                <a:solidFill>
                  <a:srgbClr val="E6EEFF"/>
                </a:solidFill>
                <a:latin typeface="LINE Seed Sans TH Heavy"/>
                <a:ea typeface="LINE Seed Sans TH Heavy"/>
                <a:cs typeface="LINE Seed Sans TH Heavy"/>
              </a:rPr>
              <a:t>เสาร์ 7 พ.ย.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9492" y="9333160"/>
            <a:ext cx="1774328" cy="40420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9" b="1">
                <a:solidFill>
                  <a:srgbClr val="FFFFFF"/>
                </a:solidFill>
                <a:latin typeface="LINE Seed Sans TH"/>
                <a:ea typeface="LINE Seed Sans TH"/>
                <a:cs typeface="LINE Seed Sans TH"/>
              </a:rPr>
              <a:t>สนใจ คอมเมนต์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 · Ticket"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012" y="2857500"/>
            <a:ext cx="5995987" cy="57864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2900"/>
            <a:ext cx="60960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19162"/>
            <a:ext cx="2462212" cy="2524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895350"/>
            <a:ext cx="2566987" cy="2533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486150"/>
            <a:ext cx="4505325" cy="676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348287"/>
            <a:ext cx="6615112" cy="43767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75" y="9063037"/>
            <a:ext cx="3524250" cy="12239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24050" y="771525"/>
            <a:ext cx="2975520" cy="1689811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400" b="0" spc="-168">
                <a:solidFill>
                  <a:srgbClr val="FF7A3D"/>
                </a:solidFill>
                <a:latin typeface="LINE Seed Sans TH Heavy"/>
                <a:ea typeface="LINE Seed Sans TH Heavy"/>
                <a:cs typeface="LINE Seed Sans TH Heavy"/>
              </a:rPr>
              <a:t>1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4050" y="1923603"/>
            <a:ext cx="4996011" cy="1689811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400" b="0" spc="-168">
                <a:solidFill>
                  <a:srgbClr val="E6EEFF"/>
                </a:solidFill>
                <a:latin typeface="LINE Seed Sans TH Heavy"/>
                <a:ea typeface="LINE Seed Sans TH Heavy"/>
                <a:cs typeface="LINE Seed Sans TH Heavy"/>
              </a:rPr>
              <a:t>AI ตัดคลิป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506092"/>
            <a:ext cx="3994844" cy="60350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ทำคลิป ตัดต่อ </a:t>
            </a:r>
            <a:r>
              <a:rPr sz="3000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พร้อมขาย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4342209"/>
            <a:ext cx="3137148" cy="34701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คอร์สเวิร์กช็อปสำหรับเจ้าของธุรกิจ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4659808"/>
            <a:ext cx="2801094" cy="34701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ตัดต่อเองได้ ไม่ต้องเป็นสายเทค</a:t>
            </a:r>
          </a:p>
        </p:txBody>
      </p:sp>
      <p:sp>
        <p:nvSpPr>
          <p:cNvPr id="15" name="TextBox 14"/>
          <p:cNvSpPr txBox="1"/>
          <p:nvPr/>
        </p:nvSpPr>
        <p:spPr>
          <a:xfrm rot="21420000">
            <a:off x="633899" y="6069992"/>
            <a:ext cx="3990528" cy="23898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88" b="1" spc="333">
                <a:solidFill>
                  <a:srgbClr val="2563FF"/>
                </a:solidFill>
                <a:latin typeface="LINE Seed Sans TH"/>
                <a:ea typeface="LINE Seed Sans TH"/>
                <a:cs typeface="LINE Seed Sans TH"/>
              </a:rPr>
              <a:t>ADMIT ONE · AI VIDEO WORKSHOP</a:t>
            </a:r>
          </a:p>
        </p:txBody>
      </p:sp>
      <p:sp>
        <p:nvSpPr>
          <p:cNvPr id="16" name="TextBox 15"/>
          <p:cNvSpPr txBox="1"/>
          <p:nvPr/>
        </p:nvSpPr>
        <p:spPr>
          <a:xfrm rot="21420000">
            <a:off x="680279" y="6864015"/>
            <a:ext cx="2317700" cy="46469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310" b="1">
                <a:solidFill>
                  <a:srgbClr val="0F172A"/>
                </a:solidFill>
                <a:latin typeface="LINE Seed Sans TH"/>
                <a:ea typeface="LINE Seed Sans TH"/>
                <a:cs typeface="LINE Seed Sans TH"/>
              </a:rPr>
              <a:t>เสาร์ 7 พ.ย. 2026</a:t>
            </a:r>
          </a:p>
        </p:txBody>
      </p:sp>
      <p:sp>
        <p:nvSpPr>
          <p:cNvPr id="17" name="TextBox 16"/>
          <p:cNvSpPr txBox="1"/>
          <p:nvPr/>
        </p:nvSpPr>
        <p:spPr>
          <a:xfrm rot="21420000">
            <a:off x="662097" y="6642181"/>
            <a:ext cx="622548" cy="258903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87" b="0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วันเรียน</a:t>
            </a:r>
          </a:p>
        </p:txBody>
      </p:sp>
      <p:sp>
        <p:nvSpPr>
          <p:cNvPr id="18" name="TextBox 17"/>
          <p:cNvSpPr txBox="1"/>
          <p:nvPr/>
        </p:nvSpPr>
        <p:spPr>
          <a:xfrm rot="21420000">
            <a:off x="4352659" y="6362872"/>
            <a:ext cx="1370707" cy="954290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4744" b="0">
                <a:solidFill>
                  <a:srgbClr val="2563FF"/>
                </a:solidFill>
                <a:latin typeface="LINE Seed Sans TH Heavy"/>
                <a:ea typeface="LINE Seed Sans TH Heavy"/>
                <a:cs typeface="LINE Seed Sans TH Heavy"/>
              </a:rPr>
              <a:t>10</a:t>
            </a:r>
            <a:r>
              <a:rPr sz="2062" b="1">
                <a:solidFill>
                  <a:srgbClr val="0F172A"/>
                </a:solidFill>
                <a:latin typeface="LINE Seed Sans TH"/>
                <a:ea typeface="LINE Seed Sans TH"/>
                <a:cs typeface="LINE Seed Sans TH"/>
              </a:rPr>
              <a:t>ที่นั่ง</a:t>
            </a:r>
          </a:p>
        </p:txBody>
      </p:sp>
      <p:sp>
        <p:nvSpPr>
          <p:cNvPr id="19" name="TextBox 18"/>
          <p:cNvSpPr txBox="1"/>
          <p:nvPr/>
        </p:nvSpPr>
        <p:spPr>
          <a:xfrm rot="21420000">
            <a:off x="5041035" y="6259121"/>
            <a:ext cx="659159" cy="258903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287" b="0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รับจำกัด</a:t>
            </a:r>
          </a:p>
        </p:txBody>
      </p:sp>
      <p:sp>
        <p:nvSpPr>
          <p:cNvPr id="20" name="TextBox 19"/>
          <p:cNvSpPr txBox="1"/>
          <p:nvPr/>
        </p:nvSpPr>
        <p:spPr>
          <a:xfrm rot="21420000">
            <a:off x="720342" y="7748333"/>
            <a:ext cx="1022300" cy="258903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87" b="1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ราคารอบแรก</a:t>
            </a:r>
          </a:p>
        </p:txBody>
      </p:sp>
      <p:sp>
        <p:nvSpPr>
          <p:cNvPr id="21" name="TextBox 20"/>
          <p:cNvSpPr txBox="1"/>
          <p:nvPr/>
        </p:nvSpPr>
        <p:spPr>
          <a:xfrm rot="21420000">
            <a:off x="743596" y="7766397"/>
            <a:ext cx="2855416" cy="106216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280" b="0">
                <a:solidFill>
                  <a:srgbClr val="FF7A3D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 Heavy"/>
                <a:ea typeface="LINE Seed Sans TH Heavy"/>
                <a:cs typeface="LINE Seed Sans TH Heavy"/>
              </a:rPr>
              <a:t>6,990</a:t>
            </a:r>
            <a:r>
              <a:rPr sz="1584" b="1">
                <a:solidFill>
                  <a:srgbClr val="0F172A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"/>
                <a:ea typeface="LINE Seed Sans TH"/>
                <a:cs typeface="LINE Seed Sans TH"/>
              </a:rPr>
              <a:t>บาท/ท่าน</a:t>
            </a:r>
          </a:p>
        </p:txBody>
      </p:sp>
      <p:sp>
        <p:nvSpPr>
          <p:cNvPr id="22" name="TextBox 21"/>
          <p:cNvSpPr txBox="1"/>
          <p:nvPr/>
        </p:nvSpPr>
        <p:spPr>
          <a:xfrm rot="21420000">
            <a:off x="3693911" y="7646495"/>
            <a:ext cx="1495425" cy="37341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85" b="0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ราคาเต็ม </a:t>
            </a:r>
            <a:r>
              <a:rPr sz="1856" b="1" strike="sngStrike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8,500</a:t>
            </a:r>
          </a:p>
        </p:txBody>
      </p:sp>
      <p:sp>
        <p:nvSpPr>
          <p:cNvPr id="23" name="TextBox 22"/>
          <p:cNvSpPr txBox="1"/>
          <p:nvPr/>
        </p:nvSpPr>
        <p:spPr>
          <a:xfrm rot="21420000">
            <a:off x="3860039" y="8105153"/>
            <a:ext cx="1316831" cy="28379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11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ประหยัด 1,510.-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742" y="9386589"/>
            <a:ext cx="1918543" cy="439350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84" b="1">
                <a:solidFill>
                  <a:srgbClr val="FFFFFF"/>
                </a:solidFill>
                <a:latin typeface="LINE Seed Sans TH"/>
                <a:ea typeface="LINE Seed Sans TH"/>
                <a:cs typeface="LINE Seed Sans TH"/>
              </a:rPr>
              <a:t>สนใจ คอมเมนต์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